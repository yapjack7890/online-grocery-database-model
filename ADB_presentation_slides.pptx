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81178" autoAdjust="0"/>
  </p:normalViewPr>
  <p:slideViewPr>
    <p:cSldViewPr snapToGrid="0">
      <p:cViewPr varScale="1">
        <p:scale>
          <a:sx n="85" d="100"/>
          <a:sy n="85" d="100"/>
        </p:scale>
        <p:origin x="7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62BFA9-228C-4F6D-B8CF-143F1FBC3F97}" type="datetimeFigureOut">
              <a:rPr lang="en-US" smtClean="0"/>
              <a:t>6/14/2025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8E82E9-C868-4FDF-990F-04F4A68FCCA6}" type="slidenum">
              <a:rPr lang="en-US" smtClean="0"/>
              <a:t>‹#›</a:t>
            </a:fld>
            <a:endParaRPr lang="en-US"/>
          </a:p>
        </p:txBody>
      </p:sp>
    </p:spTree>
    <p:extLst>
      <p:ext uri="{BB962C8B-B14F-4D97-AF65-F5344CB8AC3E}">
        <p14:creationId xmlns:p14="http://schemas.microsoft.com/office/powerpoint/2010/main" val="3418264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this is group 6.</a:t>
            </a:r>
            <a:br>
              <a:rPr lang="en-US" dirty="0"/>
            </a:br>
            <a:br>
              <a:rPr lang="en-US" dirty="0"/>
            </a:br>
            <a:r>
              <a:rPr lang="en-US" dirty="0"/>
              <a:t>Today, we will be presenting the Impact of big data on the online grocery industry</a:t>
            </a:r>
          </a:p>
          <a:p>
            <a:endParaRPr lang="en-US" dirty="0"/>
          </a:p>
          <a:p>
            <a:r>
              <a:rPr lang="en-US" dirty="0"/>
              <a:t>Our group members consists of Ku Jun Hao, Lim Jun Jie, Lim Sir Yuean, and Yap Jack.</a:t>
            </a:r>
          </a:p>
        </p:txBody>
      </p:sp>
      <p:sp>
        <p:nvSpPr>
          <p:cNvPr id="4" name="Slide Number Placeholder 3"/>
          <p:cNvSpPr>
            <a:spLocks noGrp="1"/>
          </p:cNvSpPr>
          <p:nvPr>
            <p:ph type="sldNum" sz="quarter" idx="5"/>
          </p:nvPr>
        </p:nvSpPr>
        <p:spPr/>
        <p:txBody>
          <a:bodyPr/>
          <a:lstStyle/>
          <a:p>
            <a:fld id="{8D8E82E9-C868-4FDF-990F-04F4A68FCCA6}" type="slidenum">
              <a:rPr lang="en-US" smtClean="0"/>
              <a:t>1</a:t>
            </a:fld>
            <a:endParaRPr lang="en-US"/>
          </a:p>
        </p:txBody>
      </p:sp>
    </p:spTree>
    <p:extLst>
      <p:ext uri="{BB962C8B-B14F-4D97-AF65-F5344CB8AC3E}">
        <p14:creationId xmlns:p14="http://schemas.microsoft.com/office/powerpoint/2010/main" val="3066193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first of all, what is big data?</a:t>
            </a:r>
            <a:br>
              <a:rPr lang="en-US" dirty="0"/>
            </a:br>
            <a:br>
              <a:rPr lang="en-US" dirty="0"/>
            </a:br>
            <a:r>
              <a:rPr lang="en-US" dirty="0"/>
              <a:t>Big Data means a large and diverse collection of structured and unstructured data.</a:t>
            </a:r>
          </a:p>
          <a:p>
            <a:endParaRPr lang="en-US" dirty="0"/>
          </a:p>
          <a:p>
            <a:r>
              <a:rPr lang="en-US" dirty="0"/>
              <a:t>As an example, structured data could range from name, email addresses, or prices. It is data that can be easily understood and mine insights by normal humans with everyday computation methods.</a:t>
            </a:r>
          </a:p>
          <a:p>
            <a:endParaRPr lang="en-US" dirty="0"/>
          </a:p>
          <a:p>
            <a:r>
              <a:rPr lang="en-US" dirty="0"/>
              <a:t>On the other hand, unstructured data could range from product images, text reviews, or search queries. It is data that cannot be easily understood or extract insights from without using complex computation methods. </a:t>
            </a:r>
            <a:br>
              <a:rPr lang="en-US" dirty="0"/>
            </a:br>
            <a:endParaRPr lang="en-US" dirty="0"/>
          </a:p>
          <a:p>
            <a:r>
              <a:rPr lang="en-US" dirty="0"/>
              <a:t>There are also a combination of both in rare cases.</a:t>
            </a:r>
          </a:p>
          <a:p>
            <a:endParaRPr lang="en-US" dirty="0"/>
          </a:p>
          <a:p>
            <a:r>
              <a:rPr lang="en-US" dirty="0"/>
              <a:t>Regardless of the data types, big data is constantly growing as users interact with digital systems daily, contributing to the expansion of big data every second on earth.</a:t>
            </a:r>
          </a:p>
        </p:txBody>
      </p:sp>
      <p:sp>
        <p:nvSpPr>
          <p:cNvPr id="4" name="Slide Number Placeholder 3"/>
          <p:cNvSpPr>
            <a:spLocks noGrp="1"/>
          </p:cNvSpPr>
          <p:nvPr>
            <p:ph type="sldNum" sz="quarter" idx="5"/>
          </p:nvPr>
        </p:nvSpPr>
        <p:spPr/>
        <p:txBody>
          <a:bodyPr/>
          <a:lstStyle/>
          <a:p>
            <a:fld id="{8D8E82E9-C868-4FDF-990F-04F4A68FCCA6}" type="slidenum">
              <a:rPr lang="en-US" smtClean="0"/>
              <a:t>2</a:t>
            </a:fld>
            <a:endParaRPr lang="en-US"/>
          </a:p>
        </p:txBody>
      </p:sp>
    </p:spTree>
    <p:extLst>
      <p:ext uri="{BB962C8B-B14F-4D97-AF65-F5344CB8AC3E}">
        <p14:creationId xmlns:p14="http://schemas.microsoft.com/office/powerpoint/2010/main" val="930045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big data useful in the online grocery industry?</a:t>
            </a:r>
          </a:p>
          <a:p>
            <a:endParaRPr lang="en-US" dirty="0"/>
          </a:p>
          <a:p>
            <a:r>
              <a:rPr lang="en-US" dirty="0"/>
              <a:t>As online groceries continue to expand to many areas, it often encounter issues such as insufficient stockings, late deliveries, lowering profitability, and most importantly, inconsistent customer experience on their platforms.</a:t>
            </a:r>
          </a:p>
          <a:p>
            <a:endParaRPr lang="en-US" dirty="0"/>
          </a:p>
          <a:p>
            <a:r>
              <a:rPr lang="en-US" dirty="0"/>
              <a:t>Big data is able to optimize customer experience, improve operational efficiency, and drive data-oriented decision making. Tackling these issues head on with significant positive results.</a:t>
            </a:r>
          </a:p>
          <a:p>
            <a:endParaRPr lang="en-US" dirty="0"/>
          </a:p>
        </p:txBody>
      </p:sp>
      <p:sp>
        <p:nvSpPr>
          <p:cNvPr id="4" name="Slide Number Placeholder 3"/>
          <p:cNvSpPr>
            <a:spLocks noGrp="1"/>
          </p:cNvSpPr>
          <p:nvPr>
            <p:ph type="sldNum" sz="quarter" idx="5"/>
          </p:nvPr>
        </p:nvSpPr>
        <p:spPr/>
        <p:txBody>
          <a:bodyPr/>
          <a:lstStyle/>
          <a:p>
            <a:fld id="{8D8E82E9-C868-4FDF-990F-04F4A68FCCA6}" type="slidenum">
              <a:rPr lang="en-US" smtClean="0"/>
              <a:t>3</a:t>
            </a:fld>
            <a:endParaRPr lang="en-US"/>
          </a:p>
        </p:txBody>
      </p:sp>
    </p:spTree>
    <p:extLst>
      <p:ext uri="{BB962C8B-B14F-4D97-AF65-F5344CB8AC3E}">
        <p14:creationId xmlns:p14="http://schemas.microsoft.com/office/powerpoint/2010/main" val="395091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and most popular impact Big Data has on online groceries stores is the feature of personalized recommendations.</a:t>
            </a:r>
          </a:p>
          <a:p>
            <a:endParaRPr lang="en-US" dirty="0"/>
          </a:p>
          <a:p>
            <a:r>
              <a:rPr lang="en-US" dirty="0"/>
              <a:t>These recommendations can be generated based on a particular user’s purchasing behavior, search history, time of purchase or even purchasing frequency. </a:t>
            </a:r>
            <a:br>
              <a:rPr lang="en-US" dirty="0"/>
            </a:br>
            <a:br>
              <a:rPr lang="en-US" dirty="0"/>
            </a:br>
            <a:r>
              <a:rPr lang="en-US" dirty="0"/>
              <a:t>This feature allows the online groceries to provide a customer-centric approach in their stocking methods. Providing a consistent yet satisfying experience.</a:t>
            </a:r>
          </a:p>
          <a:p>
            <a:endParaRPr lang="en-US" dirty="0"/>
          </a:p>
          <a:p>
            <a:r>
              <a:rPr lang="en-US" dirty="0"/>
              <a:t>For example, </a:t>
            </a:r>
            <a:r>
              <a:rPr lang="en-US" dirty="0" err="1"/>
              <a:t>HappyFresh</a:t>
            </a:r>
            <a:r>
              <a:rPr lang="en-US" dirty="0"/>
              <a:t> has in-house advertising model that provides a personalized user purchasing journey. Aiming to attract or retain existing customers on their online grocery platform.</a:t>
            </a:r>
          </a:p>
        </p:txBody>
      </p:sp>
      <p:sp>
        <p:nvSpPr>
          <p:cNvPr id="4" name="Slide Number Placeholder 3"/>
          <p:cNvSpPr>
            <a:spLocks noGrp="1"/>
          </p:cNvSpPr>
          <p:nvPr>
            <p:ph type="sldNum" sz="quarter" idx="5"/>
          </p:nvPr>
        </p:nvSpPr>
        <p:spPr/>
        <p:txBody>
          <a:bodyPr/>
          <a:lstStyle/>
          <a:p>
            <a:fld id="{8D8E82E9-C868-4FDF-990F-04F4A68FCCA6}" type="slidenum">
              <a:rPr lang="en-US" smtClean="0"/>
              <a:t>4</a:t>
            </a:fld>
            <a:endParaRPr lang="en-US"/>
          </a:p>
        </p:txBody>
      </p:sp>
    </p:spTree>
    <p:extLst>
      <p:ext uri="{BB962C8B-B14F-4D97-AF65-F5344CB8AC3E}">
        <p14:creationId xmlns:p14="http://schemas.microsoft.com/office/powerpoint/2010/main" val="2982860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second impact is the ability to forecast consumer demands for its inventory management systems.</a:t>
            </a:r>
          </a:p>
          <a:p>
            <a:endParaRPr lang="en-US" dirty="0"/>
          </a:p>
          <a:p>
            <a:r>
              <a:rPr lang="en-US" dirty="0"/>
              <a:t>By anticipating which products will be in-demand, online groceries could exploit the data to avoid excessive surpluses or shortages when serving consumers. </a:t>
            </a:r>
            <a:br>
              <a:rPr lang="en-US" dirty="0"/>
            </a:br>
            <a:br>
              <a:rPr lang="en-US" dirty="0"/>
            </a:br>
            <a:r>
              <a:rPr lang="en-US" dirty="0"/>
              <a:t>For example, Walmart uses it inventory management system across its supply chains to strike a balance between consumer demand and stocking levels to respond to fluctuating consumer demand. Making sure of Walmart’s online and offline platforms are stocked sufficiently.</a:t>
            </a:r>
          </a:p>
        </p:txBody>
      </p:sp>
      <p:sp>
        <p:nvSpPr>
          <p:cNvPr id="4" name="Slide Number Placeholder 3"/>
          <p:cNvSpPr>
            <a:spLocks noGrp="1"/>
          </p:cNvSpPr>
          <p:nvPr>
            <p:ph type="sldNum" sz="quarter" idx="5"/>
          </p:nvPr>
        </p:nvSpPr>
        <p:spPr/>
        <p:txBody>
          <a:bodyPr/>
          <a:lstStyle/>
          <a:p>
            <a:fld id="{8D8E82E9-C868-4FDF-990F-04F4A68FCCA6}" type="slidenum">
              <a:rPr lang="en-US" smtClean="0"/>
              <a:t>5</a:t>
            </a:fld>
            <a:endParaRPr lang="en-US"/>
          </a:p>
        </p:txBody>
      </p:sp>
    </p:spTree>
    <p:extLst>
      <p:ext uri="{BB962C8B-B14F-4D97-AF65-F5344CB8AC3E}">
        <p14:creationId xmlns:p14="http://schemas.microsoft.com/office/powerpoint/2010/main" val="2615365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its third impact, route and delivery optimization </a:t>
            </a:r>
          </a:p>
          <a:p>
            <a:endParaRPr lang="en-US" dirty="0"/>
          </a:p>
          <a:p>
            <a:r>
              <a:rPr lang="en-US" dirty="0"/>
              <a:t>Whereby online grocers analyze traffic data, delivery schedules and weather conditions to optimize its delivery processes.</a:t>
            </a:r>
          </a:p>
          <a:p>
            <a:endParaRPr lang="en-US" dirty="0"/>
          </a:p>
          <a:p>
            <a:r>
              <a:rPr lang="en-US" dirty="0"/>
              <a:t>One good example is Amazon Fresh’s use of route and distance analytics to deliver packages faster. </a:t>
            </a:r>
          </a:p>
          <a:p>
            <a:endParaRPr lang="en-US" dirty="0"/>
          </a:p>
          <a:p>
            <a:r>
              <a:rPr lang="en-US" dirty="0"/>
              <a:t>In the process, they realized additional data analysis from weather conditions, delivery vehicles, and geography was able to help is reduce wasteful packaging and shipment weights.</a:t>
            </a:r>
          </a:p>
        </p:txBody>
      </p:sp>
      <p:sp>
        <p:nvSpPr>
          <p:cNvPr id="4" name="Slide Number Placeholder 3"/>
          <p:cNvSpPr>
            <a:spLocks noGrp="1"/>
          </p:cNvSpPr>
          <p:nvPr>
            <p:ph type="sldNum" sz="quarter" idx="5"/>
          </p:nvPr>
        </p:nvSpPr>
        <p:spPr/>
        <p:txBody>
          <a:bodyPr/>
          <a:lstStyle/>
          <a:p>
            <a:fld id="{8D8E82E9-C868-4FDF-990F-04F4A68FCCA6}" type="slidenum">
              <a:rPr lang="en-US" smtClean="0"/>
              <a:t>6</a:t>
            </a:fld>
            <a:endParaRPr lang="en-US"/>
          </a:p>
        </p:txBody>
      </p:sp>
    </p:spTree>
    <p:extLst>
      <p:ext uri="{BB962C8B-B14F-4D97-AF65-F5344CB8AC3E}">
        <p14:creationId xmlns:p14="http://schemas.microsoft.com/office/powerpoint/2010/main" val="4009065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Big Data allows online groceries to conduct dynamic pricing strategies to become more competitive and boost more sales.</a:t>
            </a:r>
          </a:p>
          <a:p>
            <a:endParaRPr lang="en-US" dirty="0"/>
          </a:p>
          <a:p>
            <a:r>
              <a:rPr lang="en-US" dirty="0"/>
              <a:t>This can be achieved by inspecting competitor prices, demand trends, and purchasing patterns to determine the best strategy in achieving growth.</a:t>
            </a:r>
          </a:p>
          <a:p>
            <a:endParaRPr lang="en-US" dirty="0"/>
          </a:p>
          <a:p>
            <a:r>
              <a:rPr lang="en-US" dirty="0"/>
              <a:t>For example, Walmart was recorded to replace price stickers with digital labels that interacts directly with big data, updating prices based on real-time observations in the market without replace the price stickers one by one.</a:t>
            </a:r>
          </a:p>
          <a:p>
            <a:endParaRPr lang="en-US" dirty="0"/>
          </a:p>
          <a:p>
            <a:r>
              <a:rPr lang="en-US" dirty="0"/>
              <a:t>Discounts were also swiftly implemented based on a goods expiration date.</a:t>
            </a:r>
          </a:p>
        </p:txBody>
      </p:sp>
      <p:sp>
        <p:nvSpPr>
          <p:cNvPr id="4" name="Slide Number Placeholder 3"/>
          <p:cNvSpPr>
            <a:spLocks noGrp="1"/>
          </p:cNvSpPr>
          <p:nvPr>
            <p:ph type="sldNum" sz="quarter" idx="5"/>
          </p:nvPr>
        </p:nvSpPr>
        <p:spPr/>
        <p:txBody>
          <a:bodyPr/>
          <a:lstStyle/>
          <a:p>
            <a:fld id="{8D8E82E9-C868-4FDF-990F-04F4A68FCCA6}" type="slidenum">
              <a:rPr lang="en-US" smtClean="0"/>
              <a:t>7</a:t>
            </a:fld>
            <a:endParaRPr lang="en-US"/>
          </a:p>
        </p:txBody>
      </p:sp>
    </p:spTree>
    <p:extLst>
      <p:ext uri="{BB962C8B-B14F-4D97-AF65-F5344CB8AC3E}">
        <p14:creationId xmlns:p14="http://schemas.microsoft.com/office/powerpoint/2010/main" val="2344222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these impacts mean. </a:t>
            </a:r>
            <a:br>
              <a:rPr lang="en-US" dirty="0"/>
            </a:br>
            <a:br>
              <a:rPr lang="en-US" dirty="0"/>
            </a:br>
            <a:r>
              <a:rPr lang="en-US" dirty="0"/>
              <a:t>The key takeaways is that companies, whether small or big are consistently using big data to gain an advantage in the industry. </a:t>
            </a:r>
            <a:br>
              <a:rPr lang="en-US" dirty="0"/>
            </a:br>
            <a:br>
              <a:rPr lang="en-US" dirty="0"/>
            </a:br>
            <a:r>
              <a:rPr lang="en-US" dirty="0"/>
              <a:t>Always trying to scale and optimize operations quickly, while ensuring profitability stays high.</a:t>
            </a:r>
          </a:p>
          <a:p>
            <a:endParaRPr lang="en-US" dirty="0"/>
          </a:p>
          <a:p>
            <a:r>
              <a:rPr lang="en-US" dirty="0"/>
              <a:t>However, this practice may lead to easier exploitation of user data to get more profit. Which can be an unethical or even illegal.</a:t>
            </a:r>
          </a:p>
          <a:p>
            <a:endParaRPr lang="en-US" dirty="0"/>
          </a:p>
        </p:txBody>
      </p:sp>
      <p:sp>
        <p:nvSpPr>
          <p:cNvPr id="4" name="Slide Number Placeholder 3"/>
          <p:cNvSpPr>
            <a:spLocks noGrp="1"/>
          </p:cNvSpPr>
          <p:nvPr>
            <p:ph type="sldNum" sz="quarter" idx="5"/>
          </p:nvPr>
        </p:nvSpPr>
        <p:spPr/>
        <p:txBody>
          <a:bodyPr/>
          <a:lstStyle/>
          <a:p>
            <a:fld id="{8D8E82E9-C868-4FDF-990F-04F4A68FCCA6}" type="slidenum">
              <a:rPr lang="en-US" smtClean="0"/>
              <a:t>8</a:t>
            </a:fld>
            <a:endParaRPr lang="en-US"/>
          </a:p>
        </p:txBody>
      </p:sp>
    </p:spTree>
    <p:extLst>
      <p:ext uri="{BB962C8B-B14F-4D97-AF65-F5344CB8AC3E}">
        <p14:creationId xmlns:p14="http://schemas.microsoft.com/office/powerpoint/2010/main" val="520407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an efficient use of big data provides the possibility of efficiency, personalization, and sustainability in he online grocery industry with little side effects.</a:t>
            </a:r>
          </a:p>
          <a:p>
            <a:endParaRPr lang="en-US" dirty="0"/>
          </a:p>
          <a:p>
            <a:r>
              <a:rPr lang="en-US" dirty="0"/>
              <a:t>Making it an essential component in todays data-driven market.</a:t>
            </a:r>
          </a:p>
        </p:txBody>
      </p:sp>
      <p:sp>
        <p:nvSpPr>
          <p:cNvPr id="4" name="Slide Number Placeholder 3"/>
          <p:cNvSpPr>
            <a:spLocks noGrp="1"/>
          </p:cNvSpPr>
          <p:nvPr>
            <p:ph type="sldNum" sz="quarter" idx="5"/>
          </p:nvPr>
        </p:nvSpPr>
        <p:spPr/>
        <p:txBody>
          <a:bodyPr/>
          <a:lstStyle/>
          <a:p>
            <a:fld id="{8D8E82E9-C868-4FDF-990F-04F4A68FCCA6}" type="slidenum">
              <a:rPr lang="en-US" smtClean="0"/>
              <a:t>9</a:t>
            </a:fld>
            <a:endParaRPr lang="en-US"/>
          </a:p>
        </p:txBody>
      </p:sp>
    </p:spTree>
    <p:extLst>
      <p:ext uri="{BB962C8B-B14F-4D97-AF65-F5344CB8AC3E}">
        <p14:creationId xmlns:p14="http://schemas.microsoft.com/office/powerpoint/2010/main" val="363412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6/14/2025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98914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6/14/2025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16633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6/14/2025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1037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6/14/2025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67049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6/14/2025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92771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6/14/2025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59591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6/14/2025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14053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6/14/2025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19547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6/14/2025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65376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6/14/2025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21165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6/14/2025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1064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6/14/2025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06569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31" name="Straight Connector 1030">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033" name="Rectangle 1032">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33D058-D6D8-477A-06FD-FF57CDCB6533}"/>
              </a:ext>
            </a:extLst>
          </p:cNvPr>
          <p:cNvSpPr>
            <a:spLocks noGrp="1"/>
          </p:cNvSpPr>
          <p:nvPr>
            <p:ph type="ctrTitle"/>
          </p:nvPr>
        </p:nvSpPr>
        <p:spPr>
          <a:xfrm>
            <a:off x="640080" y="914399"/>
            <a:ext cx="10847494" cy="1171069"/>
          </a:xfrm>
        </p:spPr>
        <p:txBody>
          <a:bodyPr vert="horz" lIns="91440" tIns="45720" rIns="91440" bIns="45720" rtlCol="0" anchor="t">
            <a:normAutofit/>
          </a:bodyPr>
          <a:lstStyle/>
          <a:p>
            <a:pPr algn="ctr">
              <a:lnSpc>
                <a:spcPct val="90000"/>
              </a:lnSpc>
            </a:pPr>
            <a:r>
              <a:rPr lang="en-US" sz="3100" u="sng" dirty="0"/>
              <a:t>The Impact of Big Data on the Online Grocery Industry </a:t>
            </a:r>
            <a:br>
              <a:rPr lang="en-US" sz="3100" u="sng" dirty="0"/>
            </a:br>
            <a:endParaRPr lang="en-US" sz="3100" u="sng" dirty="0"/>
          </a:p>
        </p:txBody>
      </p:sp>
      <p:pic>
        <p:nvPicPr>
          <p:cNvPr id="1026" name="Picture 2" descr="10 Ways Grocers Can Use Data Analytics">
            <a:extLst>
              <a:ext uri="{FF2B5EF4-FFF2-40B4-BE49-F238E27FC236}">
                <a16:creationId xmlns:a16="http://schemas.microsoft.com/office/drawing/2014/main" id="{7474CE53-ED06-9D19-6462-045EFB6AAB3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3232" y="2653866"/>
            <a:ext cx="5648193" cy="2965301"/>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CFB32A48-5844-C50B-4DBD-2ED1C89B8433}"/>
              </a:ext>
            </a:extLst>
          </p:cNvPr>
          <p:cNvSpPr>
            <a:spLocks noGrp="1"/>
          </p:cNvSpPr>
          <p:nvPr>
            <p:ph type="subTitle" idx="1"/>
          </p:nvPr>
        </p:nvSpPr>
        <p:spPr>
          <a:xfrm>
            <a:off x="6915150" y="2256286"/>
            <a:ext cx="4563618" cy="3760459"/>
          </a:xfrm>
        </p:spPr>
        <p:txBody>
          <a:bodyPr vert="horz" lIns="91440" tIns="45720" rIns="91440" bIns="45720" rtlCol="0" anchor="t">
            <a:normAutofit/>
          </a:bodyPr>
          <a:lstStyle/>
          <a:p>
            <a:pPr algn="ctr">
              <a:lnSpc>
                <a:spcPct val="120000"/>
              </a:lnSpc>
            </a:pPr>
            <a:r>
              <a:rPr lang="en-US" i="1" u="sng" dirty="0"/>
              <a:t>Group 6</a:t>
            </a:r>
          </a:p>
          <a:p>
            <a:pPr indent="-228600">
              <a:lnSpc>
                <a:spcPct val="120000"/>
              </a:lnSpc>
              <a:buFont typeface="Arial" panose="020B0604020202020204" pitchFamily="34" charset="0"/>
              <a:buChar char="•"/>
            </a:pPr>
            <a:r>
              <a:rPr lang="en-US" dirty="0"/>
              <a:t>Ku Jun Hao 1201203310</a:t>
            </a:r>
          </a:p>
          <a:p>
            <a:pPr indent="-228600">
              <a:lnSpc>
                <a:spcPct val="120000"/>
              </a:lnSpc>
              <a:buFont typeface="Arial" panose="020B0604020202020204" pitchFamily="34" charset="0"/>
              <a:buChar char="•"/>
            </a:pPr>
            <a:r>
              <a:rPr lang="en-US" dirty="0"/>
              <a:t>Lim Jun Jie 1201103290</a:t>
            </a:r>
          </a:p>
          <a:p>
            <a:pPr indent="-228600">
              <a:lnSpc>
                <a:spcPct val="120000"/>
              </a:lnSpc>
              <a:buFont typeface="Arial" panose="020B0604020202020204" pitchFamily="34" charset="0"/>
              <a:buChar char="•"/>
            </a:pPr>
            <a:r>
              <a:rPr lang="en-US" dirty="0"/>
              <a:t>Lim Sir Yuean 1211307746</a:t>
            </a:r>
          </a:p>
          <a:p>
            <a:pPr indent="-228600">
              <a:lnSpc>
                <a:spcPct val="120000"/>
              </a:lnSpc>
              <a:buFont typeface="Arial" panose="020B0604020202020204" pitchFamily="34" charset="0"/>
              <a:buChar char="•"/>
            </a:pPr>
            <a:r>
              <a:rPr lang="en-US" dirty="0"/>
              <a:t>Yap Jack 1211103024</a:t>
            </a:r>
          </a:p>
        </p:txBody>
      </p:sp>
      <p:cxnSp>
        <p:nvCxnSpPr>
          <p:cNvPr id="1035" name="Straight Connector 1034">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5424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CFBC06-6724-284A-2D3E-92C4696250A4}"/>
              </a:ext>
            </a:extLst>
          </p:cNvPr>
          <p:cNvSpPr>
            <a:spLocks noGrp="1"/>
          </p:cNvSpPr>
          <p:nvPr>
            <p:ph type="title"/>
          </p:nvPr>
        </p:nvSpPr>
        <p:spPr>
          <a:xfrm>
            <a:off x="640080" y="914399"/>
            <a:ext cx="10847494" cy="1171069"/>
          </a:xfrm>
        </p:spPr>
        <p:txBody>
          <a:bodyPr anchor="t">
            <a:normAutofit/>
          </a:bodyPr>
          <a:lstStyle/>
          <a:p>
            <a:r>
              <a:rPr lang="en-US" dirty="0"/>
              <a:t>What is big data?</a:t>
            </a:r>
          </a:p>
        </p:txBody>
      </p:sp>
      <p:pic>
        <p:nvPicPr>
          <p:cNvPr id="4098" name="Picture 2" descr="What Are The Types Of Big Data?">
            <a:extLst>
              <a:ext uri="{FF2B5EF4-FFF2-40B4-BE49-F238E27FC236}">
                <a16:creationId xmlns:a16="http://schemas.microsoft.com/office/drawing/2014/main" id="{57E35693-805F-35B8-59B7-BE1EED81373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4157" y="2479450"/>
            <a:ext cx="6466961" cy="337898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F859760-1D28-8CAD-A9E7-EDAB521C1A1D}"/>
              </a:ext>
            </a:extLst>
          </p:cNvPr>
          <p:cNvSpPr>
            <a:spLocks noGrp="1"/>
          </p:cNvSpPr>
          <p:nvPr>
            <p:ph idx="1"/>
          </p:nvPr>
        </p:nvSpPr>
        <p:spPr>
          <a:xfrm>
            <a:off x="7289750" y="1498325"/>
            <a:ext cx="4563618" cy="4380477"/>
          </a:xfrm>
        </p:spPr>
        <p:txBody>
          <a:bodyPr anchor="t">
            <a:normAutofit/>
          </a:bodyPr>
          <a:lstStyle/>
          <a:p>
            <a:r>
              <a:rPr lang="en-US" dirty="0"/>
              <a:t>Large and diverse collection of structured and unstructured data.</a:t>
            </a:r>
          </a:p>
          <a:p>
            <a:pPr lvl="1"/>
            <a:r>
              <a:rPr lang="en-US" dirty="0"/>
              <a:t>Structured data: Name, email addresses, prices etc.</a:t>
            </a:r>
          </a:p>
          <a:p>
            <a:pPr lvl="1"/>
            <a:r>
              <a:rPr lang="en-US" dirty="0"/>
              <a:t>Unstructured data: Product images, text reviews, search queries etc.</a:t>
            </a:r>
          </a:p>
          <a:p>
            <a:pPr lvl="1"/>
            <a:r>
              <a:rPr lang="en-US" dirty="0"/>
              <a:t>Semi-Structured Data: Combination of both</a:t>
            </a:r>
          </a:p>
          <a:p>
            <a:r>
              <a:rPr lang="en-US" dirty="0"/>
              <a:t>Constantly generated by various online systems.</a:t>
            </a:r>
          </a:p>
          <a:p>
            <a:pPr marL="0" indent="0">
              <a:buNone/>
            </a:pPr>
            <a:endParaRPr lang="en-US" dirty="0"/>
          </a:p>
        </p:txBody>
      </p:sp>
      <p:cxnSp>
        <p:nvCxnSpPr>
          <p:cNvPr id="4112" name="Straight Connector 411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935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7" name="Rectangle 3096">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007209-BAE5-D552-29E0-8E961BDED5C9}"/>
              </a:ext>
            </a:extLst>
          </p:cNvPr>
          <p:cNvSpPr>
            <a:spLocks noGrp="1"/>
          </p:cNvSpPr>
          <p:nvPr>
            <p:ph type="title"/>
          </p:nvPr>
        </p:nvSpPr>
        <p:spPr>
          <a:xfrm>
            <a:off x="640080" y="1371600"/>
            <a:ext cx="4193177" cy="1097280"/>
          </a:xfrm>
        </p:spPr>
        <p:txBody>
          <a:bodyPr>
            <a:normAutofit/>
          </a:bodyPr>
          <a:lstStyle/>
          <a:p>
            <a:pPr>
              <a:lnSpc>
                <a:spcPct val="90000"/>
              </a:lnSpc>
            </a:pPr>
            <a:r>
              <a:rPr lang="en-US" sz="3600" i="1" u="sng"/>
              <a:t>How does it benefit online groceries?</a:t>
            </a:r>
          </a:p>
        </p:txBody>
      </p:sp>
      <p:cxnSp>
        <p:nvCxnSpPr>
          <p:cNvPr id="3099" name="Straight Connector 3098">
            <a:extLst>
              <a:ext uri="{FF2B5EF4-FFF2-40B4-BE49-F238E27FC236}">
                <a16:creationId xmlns:a16="http://schemas.microsoft.com/office/drawing/2014/main" id="{5F36BA04-2CA4-4727-91BA-40C378D140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8FC1854-670E-C05A-0853-8A0E5079F36E}"/>
              </a:ext>
            </a:extLst>
          </p:cNvPr>
          <p:cNvSpPr>
            <a:spLocks noGrp="1"/>
          </p:cNvSpPr>
          <p:nvPr>
            <p:ph idx="1"/>
          </p:nvPr>
        </p:nvSpPr>
        <p:spPr>
          <a:xfrm>
            <a:off x="640080" y="2636205"/>
            <a:ext cx="4193177" cy="3664452"/>
          </a:xfrm>
        </p:spPr>
        <p:txBody>
          <a:bodyPr>
            <a:normAutofit/>
          </a:bodyPr>
          <a:lstStyle/>
          <a:p>
            <a:r>
              <a:rPr lang="en-US"/>
              <a:t>Optimize customer experience</a:t>
            </a:r>
          </a:p>
          <a:p>
            <a:r>
              <a:rPr lang="en-US"/>
              <a:t>Improve operational efficiency</a:t>
            </a:r>
          </a:p>
          <a:p>
            <a:r>
              <a:rPr lang="en-US"/>
              <a:t>Data-driven decision making</a:t>
            </a:r>
          </a:p>
        </p:txBody>
      </p:sp>
      <p:pic>
        <p:nvPicPr>
          <p:cNvPr id="3076" name="Picture 4" descr="Operational efficiency in flat style. Excellence productivity vector  illustration on isolated background. Gear and arrow sign business concept.  15876458 Vector Art at Vecteezy">
            <a:extLst>
              <a:ext uri="{FF2B5EF4-FFF2-40B4-BE49-F238E27FC236}">
                <a16:creationId xmlns:a16="http://schemas.microsoft.com/office/drawing/2014/main" id="{D0803199-0F65-A1BA-ED7A-67C9AB143E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86" r="2333" b="1"/>
          <a:stretch>
            <a:fillRect/>
          </a:stretch>
        </p:blipFill>
        <p:spPr bwMode="auto">
          <a:xfrm>
            <a:off x="5679448" y="-1"/>
            <a:ext cx="3256277" cy="343557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Data-driven Decisions Icon line vector illustration 35824940 Vector Art at  Vecteezy">
            <a:extLst>
              <a:ext uri="{FF2B5EF4-FFF2-40B4-BE49-F238E27FC236}">
                <a16:creationId xmlns:a16="http://schemas.microsoft.com/office/drawing/2014/main" id="{20E5C4E6-DCA1-CA4E-27E8-75CD2AEB40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220" b="1"/>
          <a:stretch>
            <a:fillRect/>
          </a:stretch>
        </p:blipFill>
        <p:spPr bwMode="auto">
          <a:xfrm>
            <a:off x="8935722" y="10"/>
            <a:ext cx="3256277" cy="343556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4 Easy Steps to Improve Customer Experience Optimization for E-Commerce">
            <a:extLst>
              <a:ext uri="{FF2B5EF4-FFF2-40B4-BE49-F238E27FC236}">
                <a16:creationId xmlns:a16="http://schemas.microsoft.com/office/drawing/2014/main" id="{8BDAC6B1-970A-A0CC-AAB0-6C48750285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7400" r="-2" b="3719"/>
          <a:stretch>
            <a:fillRect/>
          </a:stretch>
        </p:blipFill>
        <p:spPr bwMode="auto">
          <a:xfrm>
            <a:off x="5679451" y="3429000"/>
            <a:ext cx="6512547"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6896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7" name="Rectangle 2066">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5E7933-FFF8-1AB7-C28B-216C7D20D1A3}"/>
              </a:ext>
            </a:extLst>
          </p:cNvPr>
          <p:cNvSpPr>
            <a:spLocks noGrp="1"/>
          </p:cNvSpPr>
          <p:nvPr>
            <p:ph type="title"/>
          </p:nvPr>
        </p:nvSpPr>
        <p:spPr>
          <a:xfrm>
            <a:off x="640079" y="1371600"/>
            <a:ext cx="6382512" cy="1097280"/>
          </a:xfrm>
        </p:spPr>
        <p:txBody>
          <a:bodyPr>
            <a:normAutofit/>
          </a:bodyPr>
          <a:lstStyle/>
          <a:p>
            <a:pPr>
              <a:lnSpc>
                <a:spcPct val="90000"/>
              </a:lnSpc>
            </a:pPr>
            <a:r>
              <a:rPr lang="en-US" sz="3400" i="1" u="sng" dirty="0"/>
              <a:t>Personalized Recommendations</a:t>
            </a:r>
          </a:p>
        </p:txBody>
      </p:sp>
      <p:cxnSp>
        <p:nvCxnSpPr>
          <p:cNvPr id="2069" name="Straight Connector 2068">
            <a:extLst>
              <a:ext uri="{FF2B5EF4-FFF2-40B4-BE49-F238E27FC236}">
                <a16:creationId xmlns:a16="http://schemas.microsoft.com/office/drawing/2014/main" id="{A1DB5636-7209-441D-A20B-2A24C54D5C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CD9DF6B-888C-1F1A-FC2E-885530F1AACD}"/>
              </a:ext>
            </a:extLst>
          </p:cNvPr>
          <p:cNvSpPr>
            <a:spLocks noGrp="1"/>
          </p:cNvSpPr>
          <p:nvPr>
            <p:ph idx="1"/>
          </p:nvPr>
        </p:nvSpPr>
        <p:spPr>
          <a:xfrm>
            <a:off x="640079" y="2633236"/>
            <a:ext cx="6382512" cy="3664681"/>
          </a:xfrm>
        </p:spPr>
        <p:txBody>
          <a:bodyPr>
            <a:normAutofit/>
          </a:bodyPr>
          <a:lstStyle/>
          <a:p>
            <a:r>
              <a:rPr lang="en-US" dirty="0"/>
              <a:t>Recommend products based on profile purchasing behaviors.</a:t>
            </a:r>
          </a:p>
          <a:p>
            <a:r>
              <a:rPr lang="en-US" dirty="0"/>
              <a:t>Achieve consistent and satisfying customer purchasing experience.</a:t>
            </a:r>
          </a:p>
          <a:p>
            <a:r>
              <a:rPr lang="en-US" dirty="0" err="1"/>
              <a:t>Happyfresh</a:t>
            </a:r>
            <a:r>
              <a:rPr lang="en-US" dirty="0"/>
              <a:t> uses big data to attract and retain customers.</a:t>
            </a:r>
          </a:p>
          <a:p>
            <a:pPr marL="0" indent="0">
              <a:buNone/>
            </a:pPr>
            <a:endParaRPr lang="en-US" dirty="0"/>
          </a:p>
          <a:p>
            <a:pPr marL="0" indent="0">
              <a:buNone/>
            </a:pPr>
            <a:endParaRPr lang="en-US" dirty="0"/>
          </a:p>
        </p:txBody>
      </p:sp>
      <p:pic>
        <p:nvPicPr>
          <p:cNvPr id="2050" name="Picture 2" descr="Nikmati Penghantaran Percuma Untuk Aplikasi HappyFresh Sekarang Juga Dengan  3 Langkah Mudah Ini!">
            <a:extLst>
              <a:ext uri="{FF2B5EF4-FFF2-40B4-BE49-F238E27FC236}">
                <a16:creationId xmlns:a16="http://schemas.microsoft.com/office/drawing/2014/main" id="{70E5DE86-C716-A5B8-74E9-DDDF58963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591" r="5437"/>
          <a:stretch>
            <a:fillRect/>
          </a:stretch>
        </p:blipFill>
        <p:spPr bwMode="auto">
          <a:xfrm>
            <a:off x="7810504" y="1"/>
            <a:ext cx="4381494" cy="3429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usiness Model and working of ...">
            <a:extLst>
              <a:ext uri="{FF2B5EF4-FFF2-40B4-BE49-F238E27FC236}">
                <a16:creationId xmlns:a16="http://schemas.microsoft.com/office/drawing/2014/main" id="{686DE422-7A8E-F2F3-9D7B-E96D2BD474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 b="10558"/>
          <a:stretch>
            <a:fillRect/>
          </a:stretch>
        </p:blipFill>
        <p:spPr bwMode="auto">
          <a:xfrm>
            <a:off x="7810505" y="3429000"/>
            <a:ext cx="4381494"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1609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40" name="Rectangle 513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0D882F-8522-33C5-E84F-BE2E9893D5E1}"/>
              </a:ext>
            </a:extLst>
          </p:cNvPr>
          <p:cNvSpPr>
            <a:spLocks noGrp="1"/>
          </p:cNvSpPr>
          <p:nvPr>
            <p:ph type="title"/>
          </p:nvPr>
        </p:nvSpPr>
        <p:spPr>
          <a:xfrm>
            <a:off x="640080" y="914400"/>
            <a:ext cx="6127542" cy="1097280"/>
          </a:xfrm>
        </p:spPr>
        <p:txBody>
          <a:bodyPr anchor="b">
            <a:normAutofit/>
          </a:bodyPr>
          <a:lstStyle/>
          <a:p>
            <a:pPr>
              <a:lnSpc>
                <a:spcPct val="90000"/>
              </a:lnSpc>
            </a:pPr>
            <a:r>
              <a:rPr lang="en-US" sz="3400" i="1" u="sng" dirty="0"/>
              <a:t>Demand forecasting and inventory management</a:t>
            </a:r>
          </a:p>
        </p:txBody>
      </p:sp>
      <p:sp>
        <p:nvSpPr>
          <p:cNvPr id="3" name="Content Placeholder 2">
            <a:extLst>
              <a:ext uri="{FF2B5EF4-FFF2-40B4-BE49-F238E27FC236}">
                <a16:creationId xmlns:a16="http://schemas.microsoft.com/office/drawing/2014/main" id="{27F70A78-A969-E76C-DCCA-7441C3F83A93}"/>
              </a:ext>
            </a:extLst>
          </p:cNvPr>
          <p:cNvSpPr>
            <a:spLocks noGrp="1"/>
          </p:cNvSpPr>
          <p:nvPr>
            <p:ph idx="1"/>
          </p:nvPr>
        </p:nvSpPr>
        <p:spPr>
          <a:xfrm>
            <a:off x="640080" y="2182273"/>
            <a:ext cx="6127542" cy="3892479"/>
          </a:xfrm>
        </p:spPr>
        <p:txBody>
          <a:bodyPr>
            <a:normAutofit/>
          </a:bodyPr>
          <a:lstStyle/>
          <a:p>
            <a:r>
              <a:rPr lang="en-US" dirty="0"/>
              <a:t>Predict inventory demands to reduce wastes and costs.</a:t>
            </a:r>
          </a:p>
          <a:p>
            <a:r>
              <a:rPr lang="en-US" dirty="0"/>
              <a:t>Optimize inventory management to avoid surpluses or shortages.</a:t>
            </a:r>
          </a:p>
        </p:txBody>
      </p:sp>
      <p:pic>
        <p:nvPicPr>
          <p:cNvPr id="8" name="Picture 7">
            <a:extLst>
              <a:ext uri="{FF2B5EF4-FFF2-40B4-BE49-F238E27FC236}">
                <a16:creationId xmlns:a16="http://schemas.microsoft.com/office/drawing/2014/main" id="{368AC5C1-F1B9-C861-8A7B-00A2BD30DC92}"/>
              </a:ext>
            </a:extLst>
          </p:cNvPr>
          <p:cNvPicPr>
            <a:picLocks noChangeAspect="1"/>
          </p:cNvPicPr>
          <p:nvPr/>
        </p:nvPicPr>
        <p:blipFill>
          <a:blip r:embed="rId3"/>
          <a:stretch>
            <a:fillRect/>
          </a:stretch>
        </p:blipFill>
        <p:spPr>
          <a:xfrm>
            <a:off x="7953859" y="616196"/>
            <a:ext cx="2928999" cy="2907032"/>
          </a:xfrm>
          <a:prstGeom prst="rect">
            <a:avLst/>
          </a:prstGeom>
        </p:spPr>
      </p:pic>
      <p:pic>
        <p:nvPicPr>
          <p:cNvPr id="5128" name="Picture 8" descr="Walmart's Use of Big Data">
            <a:extLst>
              <a:ext uri="{FF2B5EF4-FFF2-40B4-BE49-F238E27FC236}">
                <a16:creationId xmlns:a16="http://schemas.microsoft.com/office/drawing/2014/main" id="{E8285B7B-6B9C-4314-68BB-3A25FC7F15D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255314" y="3657912"/>
            <a:ext cx="4296606" cy="2416840"/>
          </a:xfrm>
          <a:prstGeom prst="rect">
            <a:avLst/>
          </a:prstGeom>
          <a:noFill/>
          <a:extLst>
            <a:ext uri="{909E8E84-426E-40DD-AFC4-6F175D3DCCD1}">
              <a14:hiddenFill xmlns:a14="http://schemas.microsoft.com/office/drawing/2010/main">
                <a:solidFill>
                  <a:srgbClr val="FFFFFF"/>
                </a:solidFill>
              </a14:hiddenFill>
            </a:ext>
          </a:extLst>
        </p:spPr>
      </p:pic>
      <p:cxnSp>
        <p:nvCxnSpPr>
          <p:cNvPr id="5142" name="Straight Connector 5141">
            <a:extLst>
              <a:ext uri="{FF2B5EF4-FFF2-40B4-BE49-F238E27FC236}">
                <a16:creationId xmlns:a16="http://schemas.microsoft.com/office/drawing/2014/main" id="{0D7F0166-5104-70BA-EFEB-5271B630FD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0596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9" name="Rectangle 6158">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ECD07A-AA45-DE30-2A89-C21F59A6DCA4}"/>
              </a:ext>
            </a:extLst>
          </p:cNvPr>
          <p:cNvSpPr>
            <a:spLocks noGrp="1"/>
          </p:cNvSpPr>
          <p:nvPr>
            <p:ph type="title"/>
          </p:nvPr>
        </p:nvSpPr>
        <p:spPr>
          <a:xfrm>
            <a:off x="640080" y="914400"/>
            <a:ext cx="5029200" cy="1097280"/>
          </a:xfrm>
        </p:spPr>
        <p:txBody>
          <a:bodyPr anchor="t">
            <a:normAutofit/>
          </a:bodyPr>
          <a:lstStyle/>
          <a:p>
            <a:pPr>
              <a:lnSpc>
                <a:spcPct val="90000"/>
              </a:lnSpc>
            </a:pPr>
            <a:r>
              <a:rPr lang="en-US" sz="3600" i="1" u="sng"/>
              <a:t>Route and Delivery Optimization</a:t>
            </a:r>
          </a:p>
        </p:txBody>
      </p:sp>
      <p:sp>
        <p:nvSpPr>
          <p:cNvPr id="3" name="Content Placeholder 2">
            <a:extLst>
              <a:ext uri="{FF2B5EF4-FFF2-40B4-BE49-F238E27FC236}">
                <a16:creationId xmlns:a16="http://schemas.microsoft.com/office/drawing/2014/main" id="{C68AC11D-4C36-C357-11F3-A2444E8B11F1}"/>
              </a:ext>
            </a:extLst>
          </p:cNvPr>
          <p:cNvSpPr>
            <a:spLocks noGrp="1"/>
          </p:cNvSpPr>
          <p:nvPr>
            <p:ph idx="1"/>
          </p:nvPr>
        </p:nvSpPr>
        <p:spPr>
          <a:xfrm>
            <a:off x="640080" y="2179005"/>
            <a:ext cx="5029200" cy="4123944"/>
          </a:xfrm>
        </p:spPr>
        <p:txBody>
          <a:bodyPr>
            <a:normAutofit/>
          </a:bodyPr>
          <a:lstStyle/>
          <a:p>
            <a:r>
              <a:rPr lang="en-US" dirty="0"/>
              <a:t>Uses Big Data to deliver goods to consumers efficiently.</a:t>
            </a:r>
          </a:p>
          <a:p>
            <a:r>
              <a:rPr lang="en-US" dirty="0"/>
              <a:t>Unforeseen benefits such as waste reduction, fuel cost optimization, and shipment weight reduction.</a:t>
            </a:r>
          </a:p>
        </p:txBody>
      </p:sp>
      <p:pic>
        <p:nvPicPr>
          <p:cNvPr id="6148" name="Picture 4" descr="How your groceries are packed and shipped in two hours - About Amazon  Singapore">
            <a:extLst>
              <a:ext uri="{FF2B5EF4-FFF2-40B4-BE49-F238E27FC236}">
                <a16:creationId xmlns:a16="http://schemas.microsoft.com/office/drawing/2014/main" id="{BE4E5E45-9D42-F7B2-503E-F4CF086206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486" r="23065" b="1"/>
          <a:stretch>
            <a:fillRect/>
          </a:stretch>
        </p:blipFill>
        <p:spPr bwMode="auto">
          <a:xfrm>
            <a:off x="6510938" y="914400"/>
            <a:ext cx="2835431" cy="2686524"/>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LogiNext-Blog | How Location Intelligence is Changing Delivery Route  Optimization in Retail">
            <a:extLst>
              <a:ext uri="{FF2B5EF4-FFF2-40B4-BE49-F238E27FC236}">
                <a16:creationId xmlns:a16="http://schemas.microsoft.com/office/drawing/2014/main" id="{64A1CD37-6963-1C65-441C-512A2DF2FF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2228" r="34547" b="2"/>
          <a:stretch>
            <a:fillRect/>
          </a:stretch>
        </p:blipFill>
        <p:spPr bwMode="auto">
          <a:xfrm>
            <a:off x="9346365" y="914400"/>
            <a:ext cx="2845630" cy="2686524"/>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Route Optimization How It Works and Why It's Essential">
            <a:extLst>
              <a:ext uri="{FF2B5EF4-FFF2-40B4-BE49-F238E27FC236}">
                <a16:creationId xmlns:a16="http://schemas.microsoft.com/office/drawing/2014/main" id="{1D49711D-E9F0-9A4A-976F-8CCF57160F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2" b="16298"/>
          <a:stretch>
            <a:fillRect/>
          </a:stretch>
        </p:blipFill>
        <p:spPr bwMode="auto">
          <a:xfrm>
            <a:off x="6510938" y="3597932"/>
            <a:ext cx="5681061" cy="2674849"/>
          </a:xfrm>
          <a:prstGeom prst="rect">
            <a:avLst/>
          </a:prstGeom>
          <a:noFill/>
          <a:extLst>
            <a:ext uri="{909E8E84-426E-40DD-AFC4-6F175D3DCCD1}">
              <a14:hiddenFill xmlns:a14="http://schemas.microsoft.com/office/drawing/2010/main">
                <a:solidFill>
                  <a:srgbClr val="FFFFFF"/>
                </a:solidFill>
              </a14:hiddenFill>
            </a:ext>
          </a:extLst>
        </p:spPr>
      </p:pic>
      <p:cxnSp>
        <p:nvCxnSpPr>
          <p:cNvPr id="6160" name="Straight Connector 6159">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510936" y="6272784"/>
            <a:ext cx="5681065"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6669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5D656-3628-6610-C525-2808B7F72FF6}"/>
              </a:ext>
            </a:extLst>
          </p:cNvPr>
          <p:cNvSpPr>
            <a:spLocks noGrp="1"/>
          </p:cNvSpPr>
          <p:nvPr>
            <p:ph type="title"/>
          </p:nvPr>
        </p:nvSpPr>
        <p:spPr>
          <a:xfrm>
            <a:off x="640080" y="234779"/>
            <a:ext cx="10890929" cy="1097280"/>
          </a:xfrm>
        </p:spPr>
        <p:txBody>
          <a:bodyPr/>
          <a:lstStyle/>
          <a:p>
            <a:r>
              <a:rPr lang="en-US" dirty="0"/>
              <a:t>Dynamic Pricing Strategies</a:t>
            </a:r>
          </a:p>
        </p:txBody>
      </p:sp>
      <p:sp>
        <p:nvSpPr>
          <p:cNvPr id="3" name="Content Placeholder 2">
            <a:extLst>
              <a:ext uri="{FF2B5EF4-FFF2-40B4-BE49-F238E27FC236}">
                <a16:creationId xmlns:a16="http://schemas.microsoft.com/office/drawing/2014/main" id="{662CB399-57E7-EF31-7E08-52278E93D3C7}"/>
              </a:ext>
            </a:extLst>
          </p:cNvPr>
          <p:cNvSpPr>
            <a:spLocks noGrp="1"/>
          </p:cNvSpPr>
          <p:nvPr>
            <p:ph idx="1"/>
          </p:nvPr>
        </p:nvSpPr>
        <p:spPr>
          <a:xfrm>
            <a:off x="640080" y="1459581"/>
            <a:ext cx="6647411" cy="1308333"/>
          </a:xfrm>
        </p:spPr>
        <p:txBody>
          <a:bodyPr/>
          <a:lstStyle/>
          <a:p>
            <a:r>
              <a:rPr lang="en-US" dirty="0"/>
              <a:t>Inspect competitor prices, demand trends, and purchasing patterns.</a:t>
            </a:r>
          </a:p>
          <a:p>
            <a:r>
              <a:rPr lang="en-US" dirty="0"/>
              <a:t>Efficient pricing to be competitive and boost sales</a:t>
            </a:r>
          </a:p>
        </p:txBody>
      </p:sp>
      <p:pic>
        <p:nvPicPr>
          <p:cNvPr id="6" name="Picture 5">
            <a:extLst>
              <a:ext uri="{FF2B5EF4-FFF2-40B4-BE49-F238E27FC236}">
                <a16:creationId xmlns:a16="http://schemas.microsoft.com/office/drawing/2014/main" id="{E91AFD2D-C3BD-9FDB-97C4-FD53E451E0E1}"/>
              </a:ext>
            </a:extLst>
          </p:cNvPr>
          <p:cNvPicPr>
            <a:picLocks noChangeAspect="1"/>
          </p:cNvPicPr>
          <p:nvPr/>
        </p:nvPicPr>
        <p:blipFill>
          <a:blip r:embed="rId3"/>
          <a:stretch>
            <a:fillRect/>
          </a:stretch>
        </p:blipFill>
        <p:spPr>
          <a:xfrm>
            <a:off x="6837141" y="3420922"/>
            <a:ext cx="4693868" cy="2632822"/>
          </a:xfrm>
          <a:prstGeom prst="rect">
            <a:avLst/>
          </a:prstGeom>
        </p:spPr>
      </p:pic>
      <p:pic>
        <p:nvPicPr>
          <p:cNvPr id="7172" name="Picture 4" descr="Walmart is replacing its price labels with digital screens—but the company  swears it won't use it for surge pricing : r/technology">
            <a:extLst>
              <a:ext uri="{FF2B5EF4-FFF2-40B4-BE49-F238E27FC236}">
                <a16:creationId xmlns:a16="http://schemas.microsoft.com/office/drawing/2014/main" id="{F575C594-1C35-B89D-817E-6EDF723B02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 y="3420922"/>
            <a:ext cx="5265644" cy="2632822"/>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Dynamic pricing may boost retailers but put consumers in the dark">
            <a:extLst>
              <a:ext uri="{FF2B5EF4-FFF2-40B4-BE49-F238E27FC236}">
                <a16:creationId xmlns:a16="http://schemas.microsoft.com/office/drawing/2014/main" id="{6D5873CE-BA18-5A31-64F4-C9AA29F251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53850" y="516775"/>
            <a:ext cx="3598070" cy="2705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41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9DBE5-0C2D-0B74-028C-6DCB904AEBF2}"/>
              </a:ext>
            </a:extLst>
          </p:cNvPr>
          <p:cNvSpPr>
            <a:spLocks noGrp="1"/>
          </p:cNvSpPr>
          <p:nvPr>
            <p:ph type="title"/>
          </p:nvPr>
        </p:nvSpPr>
        <p:spPr>
          <a:xfrm>
            <a:off x="650535" y="234779"/>
            <a:ext cx="10890929" cy="1097280"/>
          </a:xfrm>
        </p:spPr>
        <p:txBody>
          <a:bodyPr/>
          <a:lstStyle/>
          <a:p>
            <a:r>
              <a:rPr lang="en-US" dirty="0"/>
              <a:t>Key Takeaways</a:t>
            </a:r>
          </a:p>
        </p:txBody>
      </p:sp>
      <p:sp>
        <p:nvSpPr>
          <p:cNvPr id="3" name="Content Placeholder 2">
            <a:extLst>
              <a:ext uri="{FF2B5EF4-FFF2-40B4-BE49-F238E27FC236}">
                <a16:creationId xmlns:a16="http://schemas.microsoft.com/office/drawing/2014/main" id="{5B68FC3F-6356-A0DD-D139-BC05454D3652}"/>
              </a:ext>
            </a:extLst>
          </p:cNvPr>
          <p:cNvSpPr>
            <a:spLocks noGrp="1"/>
          </p:cNvSpPr>
          <p:nvPr>
            <p:ph idx="1"/>
          </p:nvPr>
        </p:nvSpPr>
        <p:spPr>
          <a:xfrm>
            <a:off x="650535" y="1173355"/>
            <a:ext cx="6514763" cy="1599825"/>
          </a:xfrm>
        </p:spPr>
        <p:txBody>
          <a:bodyPr/>
          <a:lstStyle/>
          <a:p>
            <a:r>
              <a:rPr lang="en-US" dirty="0"/>
              <a:t>From startups to global giants, Big data is invaluable.</a:t>
            </a:r>
          </a:p>
          <a:p>
            <a:r>
              <a:rPr lang="en-US" dirty="0"/>
              <a:t>Scale operations and boost sales quicker.</a:t>
            </a:r>
          </a:p>
          <a:p>
            <a:r>
              <a:rPr lang="en-US" dirty="0"/>
              <a:t>But it exploits users for more profit.</a:t>
            </a:r>
          </a:p>
        </p:txBody>
      </p:sp>
      <p:pic>
        <p:nvPicPr>
          <p:cNvPr id="8196" name="Picture 4" descr="The importance of data | interest.co.nz">
            <a:extLst>
              <a:ext uri="{FF2B5EF4-FFF2-40B4-BE49-F238E27FC236}">
                <a16:creationId xmlns:a16="http://schemas.microsoft.com/office/drawing/2014/main" id="{2E9334A8-E22D-DDCC-3F6F-814C426782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5298" y="425693"/>
            <a:ext cx="4663476" cy="26255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9553E9D-3A7E-C884-ABD0-80EF6675AF38}"/>
              </a:ext>
            </a:extLst>
          </p:cNvPr>
          <p:cNvPicPr>
            <a:picLocks noChangeAspect="1"/>
          </p:cNvPicPr>
          <p:nvPr/>
        </p:nvPicPr>
        <p:blipFill>
          <a:blip r:embed="rId4"/>
          <a:stretch>
            <a:fillRect/>
          </a:stretch>
        </p:blipFill>
        <p:spPr>
          <a:xfrm>
            <a:off x="937845" y="2773180"/>
            <a:ext cx="5158154" cy="3755831"/>
          </a:xfrm>
          <a:prstGeom prst="rect">
            <a:avLst/>
          </a:prstGeom>
        </p:spPr>
      </p:pic>
      <p:pic>
        <p:nvPicPr>
          <p:cNvPr id="10" name="Picture 9">
            <a:extLst>
              <a:ext uri="{FF2B5EF4-FFF2-40B4-BE49-F238E27FC236}">
                <a16:creationId xmlns:a16="http://schemas.microsoft.com/office/drawing/2014/main" id="{65276FE4-D0AE-3111-72AA-20EA7D195E01}"/>
              </a:ext>
            </a:extLst>
          </p:cNvPr>
          <p:cNvPicPr>
            <a:picLocks noChangeAspect="1"/>
          </p:cNvPicPr>
          <p:nvPr/>
        </p:nvPicPr>
        <p:blipFill>
          <a:blip r:embed="rId5"/>
          <a:stretch>
            <a:fillRect/>
          </a:stretch>
        </p:blipFill>
        <p:spPr>
          <a:xfrm>
            <a:off x="7165298" y="3283654"/>
            <a:ext cx="4663476" cy="3339567"/>
          </a:xfrm>
          <a:prstGeom prst="rect">
            <a:avLst/>
          </a:prstGeom>
        </p:spPr>
      </p:pic>
    </p:spTree>
    <p:extLst>
      <p:ext uri="{BB962C8B-B14F-4D97-AF65-F5344CB8AC3E}">
        <p14:creationId xmlns:p14="http://schemas.microsoft.com/office/powerpoint/2010/main" val="3706468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5,900+ Big Data Sphere Stock Illustrations, Royalty-Free Vector Graphics &amp;  Clip Art - iStock">
            <a:extLst>
              <a:ext uri="{FF2B5EF4-FFF2-40B4-BE49-F238E27FC236}">
                <a16:creationId xmlns:a16="http://schemas.microsoft.com/office/drawing/2014/main" id="{ACFD6FC9-5731-9591-9F69-3BEC388588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0576" y="712090"/>
            <a:ext cx="3341424" cy="334142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FE825F4-C916-8450-8663-878036B5A13D}"/>
              </a:ext>
            </a:extLst>
          </p:cNvPr>
          <p:cNvSpPr>
            <a:spLocks noGrp="1"/>
          </p:cNvSpPr>
          <p:nvPr>
            <p:ph type="title"/>
          </p:nvPr>
        </p:nvSpPr>
        <p:spPr>
          <a:xfrm>
            <a:off x="640079" y="307182"/>
            <a:ext cx="10890929" cy="1097280"/>
          </a:xfrm>
        </p:spPr>
        <p:txBody>
          <a:bodyPr/>
          <a:lstStyle/>
          <a:p>
            <a:r>
              <a:rPr lang="en-US" dirty="0"/>
              <a:t>Conclusion</a:t>
            </a:r>
          </a:p>
        </p:txBody>
      </p:sp>
      <p:sp>
        <p:nvSpPr>
          <p:cNvPr id="3" name="Content Placeholder 2">
            <a:extLst>
              <a:ext uri="{FF2B5EF4-FFF2-40B4-BE49-F238E27FC236}">
                <a16:creationId xmlns:a16="http://schemas.microsoft.com/office/drawing/2014/main" id="{79D41236-5CA3-C386-C131-781BEA65658C}"/>
              </a:ext>
            </a:extLst>
          </p:cNvPr>
          <p:cNvSpPr>
            <a:spLocks noGrp="1"/>
          </p:cNvSpPr>
          <p:nvPr>
            <p:ph idx="1"/>
          </p:nvPr>
        </p:nvSpPr>
        <p:spPr>
          <a:xfrm>
            <a:off x="640079" y="1404462"/>
            <a:ext cx="7082314" cy="1417034"/>
          </a:xfrm>
        </p:spPr>
        <p:txBody>
          <a:bodyPr/>
          <a:lstStyle/>
          <a:p>
            <a:r>
              <a:rPr lang="en-US" dirty="0"/>
              <a:t>Big data provides efficiency, personalization, and sustainability enhancements to online groceries. </a:t>
            </a:r>
          </a:p>
          <a:p>
            <a:r>
              <a:rPr lang="en-US" dirty="0"/>
              <a:t>Crucial component in a data-driven market</a:t>
            </a:r>
          </a:p>
        </p:txBody>
      </p:sp>
      <p:pic>
        <p:nvPicPr>
          <p:cNvPr id="9218" name="Picture 2" descr="The Importance of Data-Driven Content Marketing in 2023">
            <a:extLst>
              <a:ext uri="{FF2B5EF4-FFF2-40B4-BE49-F238E27FC236}">
                <a16:creationId xmlns:a16="http://schemas.microsoft.com/office/drawing/2014/main" id="{E7E743AC-2D29-84B1-F51E-DBF75AA3B6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7060" y="2980063"/>
            <a:ext cx="5356133" cy="35707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E3641BF-B441-6FBB-A15A-716CE2A6E8AC}"/>
              </a:ext>
            </a:extLst>
          </p:cNvPr>
          <p:cNvPicPr>
            <a:picLocks noChangeAspect="1"/>
          </p:cNvPicPr>
          <p:nvPr/>
        </p:nvPicPr>
        <p:blipFill>
          <a:blip r:embed="rId5"/>
          <a:stretch>
            <a:fillRect/>
          </a:stretch>
        </p:blipFill>
        <p:spPr>
          <a:xfrm>
            <a:off x="1127260" y="3747890"/>
            <a:ext cx="2456146" cy="2456146"/>
          </a:xfrm>
          <a:prstGeom prst="rect">
            <a:avLst/>
          </a:prstGeom>
        </p:spPr>
      </p:pic>
    </p:spTree>
    <p:extLst>
      <p:ext uri="{BB962C8B-B14F-4D97-AF65-F5344CB8AC3E}">
        <p14:creationId xmlns:p14="http://schemas.microsoft.com/office/powerpoint/2010/main" val="1759959387"/>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TotalTime>
  <Words>991</Words>
  <Application>Microsoft Office PowerPoint</Application>
  <PresentationFormat>Widescreen</PresentationFormat>
  <Paragraphs>89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Grandview Display</vt:lpstr>
      <vt:lpstr>DashVTI</vt:lpstr>
      <vt:lpstr>The Impact of Big Data on the Online Grocery Industry  </vt:lpstr>
      <vt:lpstr>What is big data?</vt:lpstr>
      <vt:lpstr>How does it benefit online groceries?</vt:lpstr>
      <vt:lpstr>Personalized Recommendations</vt:lpstr>
      <vt:lpstr>Demand forecasting and inventory management</vt:lpstr>
      <vt:lpstr>Route and Delivery Optimization</vt:lpstr>
      <vt:lpstr>Dynamic Pricing Strategies</vt:lpstr>
      <vt:lpstr>Key Takeaways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LIM SIR YUEAN</dc:creator>
  <cp:lastModifiedBy>LIM SIR YUEAN</cp:lastModifiedBy>
  <cp:revision>10</cp:revision>
  <dcterms:created xsi:type="dcterms:W3CDTF">2025-06-14T07:06:50Z</dcterms:created>
  <dcterms:modified xsi:type="dcterms:W3CDTF">2025-06-14T11:34:27Z</dcterms:modified>
</cp:coreProperties>
</file>